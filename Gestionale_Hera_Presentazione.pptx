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octur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762000" y="635000"/>
            <a:ext cx="5334000" cy="457200"/>
          </a:xfrm>
          <a:prstGeom prst="roundRect">
            <a:avLst/>
          </a:prstGeom>
          <a:solidFill>
            <a:srgbClr val="162534"/>
          </a:solidFill>
          <a:ln w="1905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/>
          <a:lstStyle/>
          <a:p>
            <a:pPr algn="ctr"/>
            <a:r>
              <a:rPr sz="1200" b="1">
                <a:solidFill>
                  <a:srgbClr val="38BDF8"/>
                </a:solidFill>
              </a:rPr>
              <a:t>HERA S.p.A. • DIREZIONE AMBIENTE &amp; LOGISTICA</a:t>
            </a:r>
            <a:endParaRPr sz="1200" b="1">
              <a:solidFill>
                <a:srgbClr val="38BDF8"/>
              </a:solidFill>
            </a:endParaRPr>
          </a:p>
        </p:txBody>
      </p:sp>
      <p:sp>
        <p:nvSpPr>
          <p:cNvPr id="262" name="TextBox 2"/>
          <p:cNvSpPr txBox="1"/>
          <p:nvPr/>
        </p:nvSpPr>
        <p:spPr>
          <a:xfrm>
            <a:off x="762000" y="1397000"/>
            <a:ext cx="10668000" cy="767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E599"/>
                </a:solidFill>
              </a:rPr>
              <a:t>HERA TURNI FLOTTA</a:t>
            </a:r>
            <a:endParaRPr sz="4400" b="1">
              <a:solidFill>
                <a:srgbClr val="00E599"/>
              </a:solidFill>
            </a:endParaRPr>
          </a:p>
        </p:txBody>
      </p:sp>
      <p:sp>
        <p:nvSpPr>
          <p:cNvPr id="263" name="TextBox 3"/>
          <p:cNvSpPr txBox="1"/>
          <p:nvPr/>
        </p:nvSpPr>
        <p:spPr>
          <a:xfrm>
            <a:off x="762000" y="2603500"/>
            <a:ext cx="10668000" cy="383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900">
                <a:solidFill>
                  <a:srgbClr val="E2E8F0"/>
                </a:solidFill>
              </a:rPr>
              <a:t>La Nuova Piattaforma Intelligente per la Pianificazione dei Turni e la Gestione Flotta</a:t>
            </a:r>
            <a:endParaRPr sz="1900">
              <a:solidFill>
                <a:srgbClr val="E2E8F0"/>
              </a:solidFill>
            </a:endParaRPr>
          </a:p>
        </p:txBody>
      </p:sp>
      <p:sp>
        <p:nvSpPr>
          <p:cNvPr id="264" name="Rectangle 4"/>
          <p:cNvSpPr/>
          <p:nvPr/>
        </p:nvSpPr>
        <p:spPr>
          <a:xfrm>
            <a:off x="762000" y="3937000"/>
            <a:ext cx="3365500" cy="2032000"/>
          </a:xfrm>
          <a:prstGeom prst="roundRect">
            <a:avLst/>
          </a:prstGeom>
          <a:solidFill>
            <a:srgbClr val="182333"/>
          </a:solidFill>
          <a:ln w="25400">
            <a:solidFill>
              <a:srgbClr val="00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28600" rIns="203200" bIns="228600"/>
          <a:lstStyle/>
          <a:p>
            <a:pPr algn="ctr"/>
            <a:r>
              <a:rPr sz="1400">
                <a:solidFill>
                  <a:srgbClr val="FFFFFF"/>
                </a:solidFill>
              </a:rPr>
              <a:t>⚡ 1 CLIC</a:t>
            </a:r>
            <a:endParaRPr sz="1400">
              <a:solidFill>
                <a:srgbClr val="FFFFFF"/>
              </a:solidFill>
            </a:endParaRPr>
          </a:p>
          <a:p>
            <a:pPr algn="ctr"/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Generazione Automatica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Pianificazione completa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in meno di 30 secondi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65" name="Rectangle 5"/>
          <p:cNvSpPr/>
          <p:nvPr/>
        </p:nvSpPr>
        <p:spPr>
          <a:xfrm>
            <a:off x="4406900" y="3937000"/>
            <a:ext cx="3365500" cy="2032000"/>
          </a:xfrm>
          <a:prstGeom prst="roundRect">
            <a:avLst/>
          </a:prstGeom>
          <a:solidFill>
            <a:srgbClr val="182333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28600" rIns="203200" bIns="228600"/>
          <a:lstStyle/>
          <a:p>
            <a:pPr algn="ctr"/>
            <a:r>
              <a:rPr sz="1400">
                <a:solidFill>
                  <a:srgbClr val="FFFFFF"/>
                </a:solidFill>
              </a:rPr>
              <a:t>🛡️ 100% REGOLARE</a:t>
            </a:r>
            <a:endParaRPr sz="1400">
              <a:solidFill>
                <a:srgbClr val="FFFFFF"/>
              </a:solidFill>
            </a:endParaRPr>
          </a:p>
          <a:p>
            <a:pPr algn="ctr"/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Conformità Totale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Verifica istantanea su riposi,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patenti e abilitazioni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66" name="Rectangle 6"/>
          <p:cNvSpPr/>
          <p:nvPr/>
        </p:nvSpPr>
        <p:spPr>
          <a:xfrm>
            <a:off x="8064500" y="3937000"/>
            <a:ext cx="3365500" cy="2032000"/>
          </a:xfrm>
          <a:prstGeom prst="roundRect">
            <a:avLst/>
          </a:prstGeom>
          <a:solidFill>
            <a:srgbClr val="182333"/>
          </a:solidFill>
          <a:ln w="25400">
            <a:solidFill>
              <a:srgbClr val="A78B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28600" rIns="203200" bIns="228600"/>
          <a:lstStyle/>
          <a:p>
            <a:pPr algn="ctr"/>
            <a:r>
              <a:rPr sz="1400">
                <a:solidFill>
                  <a:srgbClr val="FFFFFF"/>
                </a:solidFill>
              </a:rPr>
              <a:t>📱 APP AUTISTI</a:t>
            </a:r>
            <a:endParaRPr sz="1400">
              <a:solidFill>
                <a:srgbClr val="FFFFFF"/>
              </a:solidFill>
            </a:endParaRPr>
          </a:p>
          <a:p>
            <a:pPr algn="ctr"/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Flotta Connessa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Turni sullo smartphone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e scambi turno con un tocco</a:t>
            </a:r>
            <a:endParaRPr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 fill="hold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 fill="hold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 fill="hold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 fill="hold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 fill="hold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50" fill="hold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1"/>
          <p:cNvSpPr txBox="1"/>
          <p:nvPr/>
        </p:nvSpPr>
        <p:spPr>
          <a:xfrm>
            <a:off x="762000" y="508000"/>
            <a:ext cx="10668000" cy="49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E599"/>
                </a:solidFill>
              </a:rPr>
              <a:t>LA SFIDA OPERATIVA: DA IERI A OGGI</a:t>
            </a:r>
            <a:endParaRPr sz="2600" b="1">
              <a:solidFill>
                <a:srgbClr val="00E599"/>
              </a:solidFill>
            </a:endParaRPr>
          </a:p>
        </p:txBody>
      </p:sp>
      <p:sp>
        <p:nvSpPr>
          <p:cNvPr id="269" name="TextBox 2"/>
          <p:cNvSpPr txBox="1"/>
          <p:nvPr/>
        </p:nvSpPr>
        <p:spPr>
          <a:xfrm>
            <a:off x="762000" y="1041400"/>
            <a:ext cx="10668000" cy="321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94A3B8"/>
                </a:solidFill>
              </a:rPr>
              <a:t>Superare i limiti della gestione manuale per eliminare errori e inefficienze</a:t>
            </a:r>
            <a:endParaRPr sz="1500">
              <a:solidFill>
                <a:srgbClr val="94A3B8"/>
              </a:solidFill>
            </a:endParaRPr>
          </a:p>
        </p:txBody>
      </p:sp>
      <p:sp>
        <p:nvSpPr>
          <p:cNvPr id="270" name="Rectangle 3"/>
          <p:cNvSpPr/>
          <p:nvPr/>
        </p:nvSpPr>
        <p:spPr>
          <a:xfrm>
            <a:off x="762000" y="1587500"/>
            <a:ext cx="5143500" cy="4508500"/>
          </a:xfrm>
          <a:prstGeom prst="roundRect">
            <a:avLst/>
          </a:prstGeom>
          <a:solidFill>
            <a:srgbClr val="1C2028"/>
          </a:solidFill>
          <a:ln w="25400">
            <a:solidFill>
              <a:srgbClr val="FF5C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254000" rIns="279400" bIns="254000"/>
          <a:lstStyle/>
          <a:p>
            <a:pPr algn="l"/>
            <a:r>
              <a:rPr sz="1300">
                <a:solidFill>
                  <a:srgbClr val="F1F5F9"/>
                </a:solidFill>
              </a:rPr>
              <a:t>IERI: GESTIONE MANUALE &amp; EXCEL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❌ ORE PERSE OGNI SETTIMANA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Compilazione manuale complessa e soggetta a sviste.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❌ RISCHIO DI NON CONFORMITÀ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Possibilità di assegnare turni senza abilitazione o senza il riposo di 11 ore.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❌ CHIAMATE ALL'ALBA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Gestione frenetica delle assenze improvvise tramite telefonate e passaparola.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❌ DISPARITÀ NEI CARICHI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Difficoltà a bilanciare turni festivi e domenicali tra tutti i colleghi.</a:t>
            </a:r>
            <a:endParaRPr sz="1300">
              <a:solidFill>
                <a:srgbClr val="F1F5F9"/>
              </a:solidFill>
            </a:endParaRPr>
          </a:p>
        </p:txBody>
      </p:sp>
      <p:sp>
        <p:nvSpPr>
          <p:cNvPr id="271" name="Rectangle 4"/>
          <p:cNvSpPr/>
          <p:nvPr/>
        </p:nvSpPr>
        <p:spPr>
          <a:xfrm>
            <a:off x="6286500" y="1587500"/>
            <a:ext cx="5143500" cy="4508500"/>
          </a:xfrm>
          <a:prstGeom prst="roundRect">
            <a:avLst/>
          </a:prstGeom>
          <a:solidFill>
            <a:srgbClr val="132724"/>
          </a:solidFill>
          <a:ln w="25400">
            <a:solidFill>
              <a:srgbClr val="00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254000" rIns="279400" bIns="254000"/>
          <a:lstStyle/>
          <a:p>
            <a:pPr algn="l"/>
            <a:r>
              <a:rPr sz="1300">
                <a:solidFill>
                  <a:srgbClr val="F1F5F9"/>
                </a:solidFill>
              </a:rPr>
              <a:t>OGGI: PIATTAFORMA DIGITALE HERA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⚡ PIANIFICAZIONE IN 30 SECONDI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L'algoritmo genera l'intera settimana con un solo clic.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🛡️ 100% CONFORMITÀ GARANTITA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Skill Matrix automatica: l'autista sale solo su mezzi e tratte per cui è formato.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🔍 SOSTITUZIONI IN 2 SECONDI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In caso di emergenza, il sistema mostra i colleghi disponibili e qualificati.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⚖️ EQUITÀ E STORICO TRACCIATO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Rotazione certificata, carichi di lavoro bilanciati e trasparenza assoluta.</a:t>
            </a:r>
            <a:endParaRPr sz="1300">
              <a:solidFill>
                <a:srgbClr val="F1F5F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fill="hold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 fill="hold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50" fill="hold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9" grpId="0" animBg="1"/>
      <p:bldP spid="270" grpId="0" animBg="1"/>
      <p:bldP spid="27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 txBox="1"/>
          <p:nvPr/>
        </p:nvSpPr>
        <p:spPr>
          <a:xfrm>
            <a:off x="762000" y="508000"/>
            <a:ext cx="10668000" cy="49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E599"/>
                </a:solidFill>
              </a:rPr>
              <a:t>I 3 PILASTRI DEL SISTEMA INTELLIGENTE</a:t>
            </a:r>
            <a:endParaRPr sz="2600" b="1">
              <a:solidFill>
                <a:srgbClr val="00E599"/>
              </a:solidFill>
            </a:endParaRPr>
          </a:p>
        </p:txBody>
      </p:sp>
      <p:sp>
        <p:nvSpPr>
          <p:cNvPr id="274" name="TextBox 2"/>
          <p:cNvSpPr txBox="1"/>
          <p:nvPr/>
        </p:nvSpPr>
        <p:spPr>
          <a:xfrm>
            <a:off x="762000" y="1041400"/>
            <a:ext cx="10668000" cy="321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94A3B8"/>
                </a:solidFill>
              </a:rPr>
              <a:t>Le regole integrate che assicurano efficienza, legalità e continuità di servizio</a:t>
            </a:r>
            <a:endParaRPr sz="1500">
              <a:solidFill>
                <a:srgbClr val="94A3B8"/>
              </a:solidFill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762000" y="1587500"/>
            <a:ext cx="3365500" cy="4508500"/>
          </a:xfrm>
          <a:prstGeom prst="roundRect">
            <a:avLst/>
          </a:prstGeom>
          <a:solidFill>
            <a:srgbClr val="15202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79400" rIns="228600" bIns="279400"/>
          <a:lstStyle/>
          <a:p>
            <a:pPr algn="l"/>
            <a:r>
              <a:rPr sz="1300">
                <a:solidFill>
                  <a:srgbClr val="F1F5F9"/>
                </a:solidFill>
              </a:rPr>
              <a:t>1. SKILL MATRIX DINAMICA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Doppia abilitazione obbligatoria: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MEZZO: Solo chi possiede patente idonea e formazione specifica può guidarlo.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GIRO: Solo chi conosce la tratta e le particolarità del percorso viene assegnato.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Risultato: Zero rischi per la sicurezza e massima qualità di raccolta.</a:t>
            </a:r>
            <a:endParaRPr sz="1300">
              <a:solidFill>
                <a:srgbClr val="F1F5F9"/>
              </a:solidFill>
            </a:endParaRPr>
          </a:p>
        </p:txBody>
      </p:sp>
      <p:sp>
        <p:nvSpPr>
          <p:cNvPr id="276" name="Rectangle 4"/>
          <p:cNvSpPr/>
          <p:nvPr/>
        </p:nvSpPr>
        <p:spPr>
          <a:xfrm>
            <a:off x="4406900" y="1587500"/>
            <a:ext cx="3365500" cy="4508500"/>
          </a:xfrm>
          <a:prstGeom prst="roundRect">
            <a:avLst/>
          </a:prstGeom>
          <a:solidFill>
            <a:srgbClr val="132724"/>
          </a:solidFill>
          <a:ln w="25400">
            <a:solidFill>
              <a:srgbClr val="00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79400" rIns="228600" bIns="279400"/>
          <a:lstStyle/>
          <a:p>
            <a:pPr algn="l"/>
            <a:r>
              <a:rPr sz="1300">
                <a:solidFill>
                  <a:srgbClr val="F1F5F9"/>
                </a:solidFill>
              </a:rPr>
              <a:t>2. RISPETTO VINCOLI DI LEGGE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Orari certi e riposo tutelato: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3 FASCE ORARIE: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  - Presto (05:30 - 11:50)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  - Standard (06:00 - 12:20)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  - Pomeriggio (12:30 - 18:50)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RIPOSO MINIMO 11H: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  Blocco automatico di turni mattutini all'indomani di un turno pomeriggio.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TURNO DOMENICA: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  Calibrato su max 3 autisti dedicati.</a:t>
            </a:r>
            <a:endParaRPr sz="1300">
              <a:solidFill>
                <a:srgbClr val="F1F5F9"/>
              </a:solidFill>
            </a:endParaRPr>
          </a:p>
        </p:txBody>
      </p:sp>
      <p:sp>
        <p:nvSpPr>
          <p:cNvPr id="277" name="Rectangle 5"/>
          <p:cNvSpPr/>
          <p:nvPr/>
        </p:nvSpPr>
        <p:spPr>
          <a:xfrm>
            <a:off x="8064500" y="1587500"/>
            <a:ext cx="3365500" cy="4508500"/>
          </a:xfrm>
          <a:prstGeom prst="roundRect">
            <a:avLst/>
          </a:prstGeom>
          <a:solidFill>
            <a:srgbClr val="1F1D30"/>
          </a:solidFill>
          <a:ln w="25400">
            <a:solidFill>
              <a:srgbClr val="A78B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79400" rIns="228600" bIns="279400"/>
          <a:lstStyle/>
          <a:p>
            <a:pPr algn="l"/>
            <a:r>
              <a:rPr sz="1300">
                <a:solidFill>
                  <a:srgbClr val="F1F5F9"/>
                </a:solidFill>
              </a:rPr>
              <a:t>3. RECUPERO GIRI AUTOMATICO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Nessuna zona trascurata: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GIRI PINNED (BLOCCATI):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  Linee prioritarie con autista e mezzo fissi.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RECUPERO INTELLIGENTE: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  Se un giro salta per maltempo o guasto, il sistema lo ripianifica automaticamente nel turno successivo.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Risultato: Garanzia di completamento del servizio verso la cittadinanza.</a:t>
            </a:r>
            <a:endParaRPr sz="1300">
              <a:solidFill>
                <a:srgbClr val="F1F5F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fill="hold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fill="hold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" grpId="0" animBg="1"/>
      <p:bldP spid="274" grpId="0" animBg="1"/>
      <p:bldP spid="275" grpId="0" animBg="1"/>
      <p:bldP spid="276" grpId="0" animBg="1"/>
      <p:bldP spid="27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extBox 1"/>
          <p:cNvSpPr txBox="1"/>
          <p:nvPr/>
        </p:nvSpPr>
        <p:spPr>
          <a:xfrm>
            <a:off x="762000" y="508000"/>
            <a:ext cx="10668000" cy="49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E599"/>
                </a:solidFill>
              </a:rPr>
              <a:t>LA CABINA DI REGIA: CONTROLLO TOTALE PER L'ESERCIZIO</a:t>
            </a:r>
            <a:endParaRPr sz="2600" b="1">
              <a:solidFill>
                <a:srgbClr val="00E599"/>
              </a:solidFill>
            </a:endParaRPr>
          </a:p>
        </p:txBody>
      </p:sp>
      <p:sp>
        <p:nvSpPr>
          <p:cNvPr id="280" name="TextBox 2"/>
          <p:cNvSpPr txBox="1"/>
          <p:nvPr/>
        </p:nvSpPr>
        <p:spPr>
          <a:xfrm>
            <a:off x="762000" y="1041400"/>
            <a:ext cx="10668000" cy="321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94A3B8"/>
                </a:solidFill>
              </a:rPr>
              <a:t>Strumenti visuali intuitivi per coordinare la flotta sul campo senza perdite di tempo</a:t>
            </a:r>
            <a:endParaRPr sz="1500">
              <a:solidFill>
                <a:srgbClr val="94A3B8"/>
              </a:solidFill>
            </a:endParaRPr>
          </a:p>
        </p:txBody>
      </p:sp>
      <p:sp>
        <p:nvSpPr>
          <p:cNvPr id="281" name="Rectangle 3"/>
          <p:cNvSpPr/>
          <p:nvPr/>
        </p:nvSpPr>
        <p:spPr>
          <a:xfrm>
            <a:off x="762000" y="1587500"/>
            <a:ext cx="5143500" cy="4508500"/>
          </a:xfrm>
          <a:prstGeom prst="roundRect">
            <a:avLst/>
          </a:prstGeom>
          <a:solidFill>
            <a:srgbClr val="15202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304800" rIns="279400" bIns="304800"/>
          <a:lstStyle/>
          <a:p>
            <a:pPr algn="l"/>
            <a:r>
              <a:rPr sz="1400">
                <a:solidFill>
                  <a:srgbClr val="F1F5F9"/>
                </a:solidFill>
              </a:rPr>
              <a:t>🧭 DASHBOARD E PIANIFICAZIONE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GENERATORE AUTOMATICO A 1 CLIC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L'algoritmo distribuisce i turni calcolando carichi, rotazioni e disponibilità.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TABELLONE CROMATICO INTUITIVO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  🟢 Verde: Giri coperti con regolarità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  🔴 Rosso: Giri scoperti da assegnare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ASSEGNAZIONI FLESSIBILI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L'amministratore può modificare o bloccare manualmente qualsiasi turno in qualsiasi istante.</a:t>
            </a:r>
            <a:endParaRPr sz="1400">
              <a:solidFill>
                <a:srgbClr val="F1F5F9"/>
              </a:solidFill>
            </a:endParaRPr>
          </a:p>
        </p:txBody>
      </p:sp>
      <p:sp>
        <p:nvSpPr>
          <p:cNvPr id="282" name="Rectangle 4"/>
          <p:cNvSpPr/>
          <p:nvPr/>
        </p:nvSpPr>
        <p:spPr>
          <a:xfrm>
            <a:off x="6286500" y="1587500"/>
            <a:ext cx="5143500" cy="4508500"/>
          </a:xfrm>
          <a:prstGeom prst="roundRect">
            <a:avLst/>
          </a:prstGeom>
          <a:solidFill>
            <a:srgbClr val="132724"/>
          </a:solidFill>
          <a:ln w="25400">
            <a:solidFill>
              <a:srgbClr val="00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304800" rIns="279400" bIns="304800"/>
          <a:lstStyle/>
          <a:p>
            <a:pPr algn="l"/>
            <a:r>
              <a:rPr sz="1400">
                <a:solidFill>
                  <a:srgbClr val="F1F5F9"/>
                </a:solidFill>
              </a:rPr>
              <a:t>⚡ GESTIONE EMERGENZE &amp; SOSTITUZIONI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MODALE DI SOSTITUZIONE RAPIDA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In caso di assenza improvvisa, con 1 clic il sistema analizza l'intera forza lavoro.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CANDIDATI SUGGERITI IN AUTOMATICO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Vengono mostrati solo gli autisti che hanno abilitazione attiva a quel mezzo e a quel giro.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STORICO COMPLETO E TRACCIABILITÀ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Ogni modifica, sostituzione o assenza rimane registrata a sistema, eliminando contestazioni.</a:t>
            </a:r>
            <a:endParaRPr sz="1400">
              <a:solidFill>
                <a:srgbClr val="F1F5F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split orient="vert" dir="out"/>
      </p:transition>
    </mc:Choice>
    <mc:Fallback>
      <p:transition spd="med">
        <p:split orient="vert" dir="ou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fill="hold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 fill="hold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50" fill="hold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" grpId="0" animBg="1"/>
      <p:bldP spid="280" grpId="0" animBg="1"/>
      <p:bldP spid="281" grpId="0" animBg="1"/>
      <p:bldP spid="28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 txBox="1"/>
          <p:nvPr/>
        </p:nvSpPr>
        <p:spPr>
          <a:xfrm>
            <a:off x="762000" y="508000"/>
            <a:ext cx="10668000" cy="49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E599"/>
                </a:solidFill>
              </a:rPr>
              <a:t>L'APP PER GLI AUTISTI: LA FLOTTA CONNESSA</a:t>
            </a:r>
            <a:endParaRPr sz="2600" b="1">
              <a:solidFill>
                <a:srgbClr val="00E599"/>
              </a:solidFill>
            </a:endParaRPr>
          </a:p>
        </p:txBody>
      </p:sp>
      <p:sp>
        <p:nvSpPr>
          <p:cNvPr id="285" name="TextBox 2"/>
          <p:cNvSpPr txBox="1"/>
          <p:nvPr/>
        </p:nvSpPr>
        <p:spPr>
          <a:xfrm>
            <a:off x="762000" y="1041400"/>
            <a:ext cx="10668000" cy="321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94A3B8"/>
                </a:solidFill>
              </a:rPr>
              <a:t>Coinvolgimento, trasparenza e serenità per gli operatori sul territorio</a:t>
            </a:r>
            <a:endParaRPr sz="1500">
              <a:solidFill>
                <a:srgbClr val="94A3B8"/>
              </a:solidFill>
            </a:endParaRPr>
          </a:p>
        </p:txBody>
      </p:sp>
      <p:sp>
        <p:nvSpPr>
          <p:cNvPr id="286" name="Rectangle 3"/>
          <p:cNvSpPr/>
          <p:nvPr/>
        </p:nvSpPr>
        <p:spPr>
          <a:xfrm>
            <a:off x="762000" y="1587500"/>
            <a:ext cx="5143500" cy="4508500"/>
          </a:xfrm>
          <a:prstGeom prst="roundRect">
            <a:avLst/>
          </a:prstGeom>
          <a:solidFill>
            <a:srgbClr val="15202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304800" rIns="279400" bIns="304800"/>
          <a:lstStyle/>
          <a:p>
            <a:pPr algn="l"/>
            <a:r>
              <a:rPr sz="1400">
                <a:solidFill>
                  <a:srgbClr val="F1F5F9"/>
                </a:solidFill>
              </a:rPr>
              <a:t>📱 IL TABELLONE SEMPRE IN TASCA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CONSULTAZIONE DA SMARTPHONE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Ogni operatore visualizza il proprio programma settimanale e quello della squadra sul proprio telefono (Android / Web).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NOTIFICHE PUSH IN TEMPO REALE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Se un turno viene riprogrammato, l'autista riceve un avviso immediato sullo schermo.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STOP A ERRORI DI COMUNICAZIONE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Basta foto storte su WhatsApp o visite in sede solo per guardare la bacheca cartacea.</a:t>
            </a:r>
            <a:endParaRPr sz="1400">
              <a:solidFill>
                <a:srgbClr val="F1F5F9"/>
              </a:solidFill>
            </a:endParaRPr>
          </a:p>
        </p:txBody>
      </p:sp>
      <p:sp>
        <p:nvSpPr>
          <p:cNvPr id="287" name="Rectangle 4"/>
          <p:cNvSpPr/>
          <p:nvPr/>
        </p:nvSpPr>
        <p:spPr>
          <a:xfrm>
            <a:off x="6286500" y="1587500"/>
            <a:ext cx="5143500" cy="4508500"/>
          </a:xfrm>
          <a:prstGeom prst="roundRect">
            <a:avLst/>
          </a:prstGeom>
          <a:solidFill>
            <a:srgbClr val="1F1D30"/>
          </a:solidFill>
          <a:ln w="25400">
            <a:solidFill>
              <a:srgbClr val="A78B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304800" rIns="279400" bIns="304800"/>
          <a:lstStyle/>
          <a:p>
            <a:pPr algn="l"/>
            <a:r>
              <a:rPr sz="1400">
                <a:solidFill>
                  <a:srgbClr val="F1F5F9"/>
                </a:solidFill>
              </a:rPr>
              <a:t>🤝 SCAMBIO TURNO DIGITALE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ACCORDO TRA COLLEGHI IN APP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L'autista seleziona un proprio turno e propone lo scambio a un collega con un tocco.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APPROVAZIONE RAPIDA DEL RESPONSABILE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La richiesta arriva nella schermata dell'amministratore, che approva o rifiuta con 1 clic.</a:t>
            </a:r>
            <a:endParaRPr sz="1400">
              <a:solidFill>
                <a:srgbClr val="F1F5F9"/>
              </a:solidFill>
            </a:endParaRPr>
          </a:p>
          <a:p>
            <a:pPr algn="l"/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• AGGIORNAMENTO AUTOMATICO</a:t>
            </a:r>
            <a:endParaRPr sz="1400">
              <a:solidFill>
                <a:srgbClr val="F1F5F9"/>
              </a:solidFill>
            </a:endParaRPr>
          </a:p>
          <a:p>
            <a:pPr algn="l"/>
            <a:r>
              <a:rPr sz="1400">
                <a:solidFill>
                  <a:srgbClr val="F1F5F9"/>
                </a:solidFill>
              </a:rPr>
              <a:t>Il tabellone si aggiorna all'istante per entrambi i dipendenti, senza fogli volanti.</a:t>
            </a:r>
            <a:endParaRPr sz="1400">
              <a:solidFill>
                <a:srgbClr val="F1F5F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push dir="l"/>
      </p:transition>
    </mc:Choice>
    <mc:Fallback>
      <p:transition spd="med">
        <p:push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fill="hold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5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 fill="hold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50" fill="hold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" grpId="0" animBg="1"/>
      <p:bldP spid="285" grpId="0" animBg="1"/>
      <p:bldP spid="286" grpId="0" animBg="1"/>
      <p:bldP spid="28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1"/>
          <p:cNvSpPr txBox="1"/>
          <p:nvPr/>
        </p:nvSpPr>
        <p:spPr>
          <a:xfrm>
            <a:off x="762000" y="508000"/>
            <a:ext cx="10668000" cy="490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E599"/>
                </a:solidFill>
              </a:rPr>
              <a:t>IMPATTO OPERATIVO (ROI) &amp; VISIONE FUTURA</a:t>
            </a:r>
            <a:endParaRPr sz="2600" b="1">
              <a:solidFill>
                <a:srgbClr val="00E599"/>
              </a:solidFill>
            </a:endParaRPr>
          </a:p>
        </p:txBody>
      </p:sp>
      <p:sp>
        <p:nvSpPr>
          <p:cNvPr id="290" name="TextBox 2"/>
          <p:cNvSpPr txBox="1"/>
          <p:nvPr/>
        </p:nvSpPr>
        <p:spPr>
          <a:xfrm>
            <a:off x="762000" y="1041400"/>
            <a:ext cx="10668000" cy="321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solidFill>
                  <a:srgbClr val="94A3B8"/>
                </a:solidFill>
              </a:rPr>
              <a:t>Risultati immediati per l'azienda e roadmap per i prossimi sviluppi strategici</a:t>
            </a:r>
            <a:endParaRPr sz="1500">
              <a:solidFill>
                <a:srgbClr val="94A3B8"/>
              </a:solidFill>
            </a:endParaRPr>
          </a:p>
        </p:txBody>
      </p:sp>
      <p:sp>
        <p:nvSpPr>
          <p:cNvPr id="291" name="Rectangle 3"/>
          <p:cNvSpPr/>
          <p:nvPr/>
        </p:nvSpPr>
        <p:spPr>
          <a:xfrm>
            <a:off x="762000" y="1587500"/>
            <a:ext cx="3365500" cy="1460500"/>
          </a:xfrm>
          <a:prstGeom prst="roundRect">
            <a:avLst/>
          </a:prstGeom>
          <a:solidFill>
            <a:srgbClr val="132724"/>
          </a:solidFill>
          <a:ln w="25400">
            <a:solidFill>
              <a:srgbClr val="00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0" tIns="203200" rIns="190500" bIns="203200"/>
          <a:lstStyle/>
          <a:p>
            <a:pPr algn="ctr"/>
            <a:r>
              <a:rPr sz="1400">
                <a:solidFill>
                  <a:srgbClr val="FFFFFF"/>
                </a:solidFill>
              </a:rPr>
              <a:t>-85% TEMPO</a:t>
            </a:r>
            <a:endParaRPr sz="1400">
              <a:solidFill>
                <a:srgbClr val="FFFFFF"/>
              </a:solidFill>
            </a:endParaRPr>
          </a:p>
          <a:p>
            <a:pPr algn="ctr"/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Risparmiato nella stesura e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gestione settimanale dei turni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92" name="Rectangle 4"/>
          <p:cNvSpPr/>
          <p:nvPr/>
        </p:nvSpPr>
        <p:spPr>
          <a:xfrm>
            <a:off x="4406900" y="1587500"/>
            <a:ext cx="3365500" cy="1460500"/>
          </a:xfrm>
          <a:prstGeom prst="roundRect">
            <a:avLst/>
          </a:prstGeom>
          <a:solidFill>
            <a:srgbClr val="15202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0" tIns="203200" rIns="190500" bIns="203200"/>
          <a:lstStyle/>
          <a:p>
            <a:pPr algn="ctr"/>
            <a:r>
              <a:rPr sz="1400">
                <a:solidFill>
                  <a:srgbClr val="FFFFFF"/>
                </a:solidFill>
              </a:rPr>
              <a:t>100% REGOLARE</a:t>
            </a:r>
            <a:endParaRPr sz="1400">
              <a:solidFill>
                <a:srgbClr val="FFFFFF"/>
              </a:solidFill>
            </a:endParaRPr>
          </a:p>
          <a:p>
            <a:pPr algn="ctr"/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Conformità totale a riposi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di legge e abilitazioni CQC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93" name="Rectangle 5"/>
          <p:cNvSpPr/>
          <p:nvPr/>
        </p:nvSpPr>
        <p:spPr>
          <a:xfrm>
            <a:off x="8064500" y="1587500"/>
            <a:ext cx="3365500" cy="1460500"/>
          </a:xfrm>
          <a:prstGeom prst="roundRect">
            <a:avLst/>
          </a:prstGeom>
          <a:solidFill>
            <a:srgbClr val="1F1D30"/>
          </a:solidFill>
          <a:ln w="25400">
            <a:solidFill>
              <a:srgbClr val="A78B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0" tIns="203200" rIns="190500" bIns="203200"/>
          <a:lstStyle/>
          <a:p>
            <a:pPr algn="ctr"/>
            <a:r>
              <a:rPr sz="1400">
                <a:solidFill>
                  <a:srgbClr val="FFFFFF"/>
                </a:solidFill>
              </a:rPr>
              <a:t>ZERO DISSERVIZI</a:t>
            </a:r>
            <a:endParaRPr sz="1400">
              <a:solidFill>
                <a:srgbClr val="FFFFFF"/>
              </a:solidFill>
            </a:endParaRPr>
          </a:p>
          <a:p>
            <a:pPr algn="ctr"/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Recupero garantito dei giri</a:t>
            </a:r>
            <a:endParaRPr sz="1400">
              <a:solidFill>
                <a:srgbClr val="FFFFFF"/>
              </a:solidFill>
            </a:endParaRPr>
          </a:p>
          <a:p>
            <a:pPr algn="ctr"/>
            <a:r>
              <a:rPr sz="1400">
                <a:solidFill>
                  <a:srgbClr val="FFFFFF"/>
                </a:solidFill>
              </a:rPr>
              <a:t>saltati e continuità verso i cittadini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94" name="Rectangle 6"/>
          <p:cNvSpPr/>
          <p:nvPr/>
        </p:nvSpPr>
        <p:spPr>
          <a:xfrm>
            <a:off x="762000" y="3302000"/>
            <a:ext cx="10668000" cy="2794000"/>
          </a:xfrm>
          <a:prstGeom prst="roundRect">
            <a:avLst/>
          </a:prstGeom>
          <a:solidFill>
            <a:srgbClr val="162130"/>
          </a:solidFill>
          <a:ln w="25400">
            <a:solidFill>
              <a:srgbClr val="00E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04800" tIns="254000" rIns="304800" bIns="254000"/>
          <a:lstStyle/>
          <a:p>
            <a:pPr algn="l"/>
            <a:r>
              <a:rPr sz="1300">
                <a:solidFill>
                  <a:srgbClr val="F1F5F9"/>
                </a:solidFill>
              </a:rPr>
              <a:t>🚀 ROADMAP: I PROSSIMI SVILUPPI STRATEGICI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GESTIONE ASSENZE PROGRAMMATE A LUNGO TERMINE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Pianificazione di ferie, permessi e visite mediche con esclusione automatica dal motore di generazione.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CRUSCOTTO ANALITICO AVANZATO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Statistiche su saturazione ore per autista, frequenza impiego mezzi e indici di copertura per macro-bacini.</a:t>
            </a:r>
            <a:endParaRPr sz="1300">
              <a:solidFill>
                <a:srgbClr val="F1F5F9"/>
              </a:solidFill>
            </a:endParaRPr>
          </a:p>
          <a:p>
            <a:pPr algn="l"/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• ESPORTAZIONE REPORTISTICA E TABELLONI PDF</a:t>
            </a:r>
            <a:endParaRPr sz="1300">
              <a:solidFill>
                <a:srgbClr val="F1F5F9"/>
              </a:solidFill>
            </a:endParaRPr>
          </a:p>
          <a:p>
            <a:pPr algn="l"/>
            <a:r>
              <a:rPr sz="1300">
                <a:solidFill>
                  <a:srgbClr val="F1F5F9"/>
                </a:solidFill>
              </a:rPr>
              <a:t>Generazione con 1 clic del report settimanale stampabile per la bacheca aziendale e l'archivio di direzione.</a:t>
            </a:r>
            <a:endParaRPr sz="1300">
              <a:solidFill>
                <a:srgbClr val="F1F5F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8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 fill="hold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 fill="hold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50" fill="hold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 fill="hold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 fill="hold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95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50" fill="hold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