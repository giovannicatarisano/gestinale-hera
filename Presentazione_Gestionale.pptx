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/>
              <a:t>GESTIONALE OPERATIVO</a:t>
            </a:r>
          </a:p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/>
          <a:lstStyle/>
          <a:p>
            <a:r>
              <a:rPr/>
              <a:t>Pianificazione Intelligente Turni, Gestione Personale ed Efficienza della Flotta</a:t>
            </a:r>
          </a:p>
          <a:p>
            <a:r>
              <a:rPr/>
              <a:t>Innovazione, Conformità Normativa e Riduzione dei Costi Operativi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Lo Scenario Attuale: Sfide e Criticità Operative</a:t>
            </a:r>
          </a:p>
        </p:txBody>
      </p:sp>
      <p:sp>
        <p:nvSpPr>
          <p:cNvPr id="2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Pianificazione frammentata: Gestione attuale affidata a fogli Excel o carta, con ore perse ad ogni ciclo settimanale</a:t>
            </a:r>
          </a:p>
          <a:p>
            <a:r>
              <a:rPr/>
              <a:t>Rischio normativo e sanzioni: Difficoltà nel monitorare costantemente i riposi obbligatori (11 ore) e i massimali di legge</a:t>
            </a:r>
          </a:p>
          <a:p>
            <a:r>
              <a:rPr/>
              <a:t>Gestione emergenze critica: La ricerca di un sostituto dell'ultimo minuto richiede continue telefonate e crea ritardi sul servizio</a:t>
            </a:r>
          </a:p>
          <a:p>
            <a:r>
              <a:rPr/>
              <a:t>Parco mezzi disconnesso: Mancanza di controllo immediato tra disponibilità del veicolo, revisione e tipologia di servizio</a:t>
            </a:r>
          </a:p>
          <a:p>
            <a:r>
              <a:rPr/>
              <a:t>Disallineamento informativo: Mancanza di uno storico condiviso, con frequenti contestazioni o dubbi sull'assegnazione turni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La Soluzione: La Nuova Piattaforma Gestionale</a:t>
            </a:r>
          </a:p>
        </p:txBody>
      </p:sp>
      <p:sp>
        <p:nvSpPr>
          <p:cNvPr id="26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Piattaforma centralizzata nativa: Web Desktop per l'ufficio logistico + App Android dedicata al personale viaggiante</a:t>
            </a:r>
          </a:p>
          <a:p>
            <a:r>
              <a:rPr/>
              <a:t>Generazione automatica intelligente: Copertura settimanale istantanea con rotazione equa dei turni e dei riposi</a:t>
            </a:r>
          </a:p>
          <a:p>
            <a:r>
              <a:rPr/>
              <a:t>Sicurezza e conformità normativa: Controllo rigoroso dei tempi di riposo (11 ore), orario massimo e sovrapposizioni</a:t>
            </a:r>
          </a:p>
          <a:p>
            <a:r>
              <a:rPr/>
              <a:t>Gestione sostituzioni in 2 clic: Individuazione automatica dei soli autisti idonei e disponibili per emergenze</a:t>
            </a:r>
          </a:p>
          <a:p>
            <a:r>
              <a:rPr/>
              <a:t>Monitoraggio integrato flotta: Allineamento costante tra veicoli operativi, manutenzioni e percorsi assegnati</a:t>
            </a:r>
          </a:p>
          <a:p>
            <a:r>
              <a:rPr/>
              <a:t>Esportazione professionale: Report standard A4 per la direzione e formati bacheca ad alta visibilità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Il Cuore del Sistema: Il Tabellone Settimanale Dinamico</a:t>
            </a:r>
          </a:p>
        </p:txBody>
      </p:sp>
      <p:sp>
        <p:nvSpPr>
          <p:cNvPr id="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Visione d'insieme a matrice: Visualizzazione a 7 colonne (Lunedì-Domenica) con slot orari e linee di servizio territoriali</a:t>
            </a:r>
          </a:p>
          <a:p>
            <a:r>
              <a:rPr/>
              <a:t>Dettaglio operativo completo: Ogni casella riporta autista assegnato, targa del veicolo, orario di inizio/fine e note</a:t>
            </a:r>
          </a:p>
          <a:p>
            <a:r>
              <a:rPr/>
              <a:t>Evidenziazione immediata delle anomalie: Segnalazione visiva automatica di eventuali turni scoperti per intervenire subito</a:t>
            </a:r>
          </a:p>
          <a:p>
            <a:r>
              <a:rPr/>
              <a:t>Massima usabilità: Matrice panoramica per postazioni PC e visualizzazione a schede ottimizzata per smartphone</a:t>
            </a:r>
          </a:p>
          <a:p>
            <a:r>
              <a:rPr/>
              <a:t>Stampa e PDF certificato: Esportazione in A4 (Orizzontale o Verticale) e predisposizione per stampe da bacheca officina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Gestione Emergenze e Sostituzioni dell'Ultimo Minuto</a:t>
            </a:r>
          </a:p>
        </p:txBody>
      </p:sp>
      <p:sp>
        <p:nvSpPr>
          <p:cNvPr id="2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Risoluzione tempestiva degli imprevisti: In caso di malattia o assenza improvvisa, il turno si gestisce con un clic</a:t>
            </a:r>
          </a:p>
          <a:p>
            <a:r>
              <a:rPr/>
              <a:t>Selezione guidata e sicura: L'applicazione elenca esclusivamente gli autisti compatibili, disponibili e in regola coi riposi</a:t>
            </a:r>
          </a:p>
          <a:p>
            <a:r>
              <a:rPr/>
              <a:t>Protezione da errori umani: Impossibile assegnare un operatore già impegnato o che violerebbe i tempi di recupero normativi</a:t>
            </a:r>
          </a:p>
          <a:p>
            <a:r>
              <a:rPr/>
              <a:t>Flessibilità operativa: Assegnazione o rimozione rapida dell'autista con aggiornamento in tempo reale del tabellone</a:t>
            </a:r>
          </a:p>
          <a:p>
            <a:r>
              <a:rPr/>
              <a:t>Tracciabilità trasparente: Nessuna variazione viene persa; la direzione mantiene sempre la visibilità dello storico modifiche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Conformità Normativa e Gestione del Personale</a:t>
            </a:r>
          </a:p>
        </p:txBody>
      </p:sp>
      <p:sp>
        <p:nvSpPr>
          <p:cNvPr id="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Scheda anagrafica centralizzata: Profilo digitale completo con patenti possedute, CQC e scadenze mediche</a:t>
            </a:r>
          </a:p>
          <a:p>
            <a:r>
              <a:rPr/>
              <a:t>Notifiche preventive di scadenza: Segnalazione automatica con congruo anticipo prima della scadenza delle abilitazioni</a:t>
            </a:r>
          </a:p>
          <a:p>
            <a:r>
              <a:rPr/>
              <a:t>Protezione e tutela legale: Certezza assoluta di non impiegare personale con documenti o visite mediche non idonee</a:t>
            </a:r>
          </a:p>
          <a:p>
            <a:r>
              <a:rPr/>
              <a:t>Equità nei carichi di lavoro: Distribuzione trasparente dei turni gravosi e dei festivi, migliorando il clima aziendale</a:t>
            </a:r>
          </a:p>
          <a:p>
            <a:r>
              <a:rPr/>
              <a:t>Controllo indisponibilità: Registrazione tempestiva di ferie, permessi e congedi con esclusione automatica dalle rotazioni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Parco Mezzi: Efficienza della Flotta e Disponibilità</a:t>
            </a:r>
          </a:p>
        </p:txBody>
      </p:sp>
      <p:sp>
        <p:nvSpPr>
          <p:cNvPr id="27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Censimento flotta integrato: Registrazione dettagliata di targhe, modelli, tipologia di carburante e specifiche tecniche</a:t>
            </a:r>
          </a:p>
          <a:p>
            <a:r>
              <a:rPr/>
              <a:t>Monitoraggio dello stato operativo: Distinzione istantanea tra veicoli in servizio, mezzi di riserva e unità in manutenzione</a:t>
            </a:r>
          </a:p>
          <a:p>
            <a:r>
              <a:rPr/>
              <a:t>Abbinamento automatico Veicolo-Percorso: Selezione del mezzo adeguato alla portata richiesta e alle restrizioni viarie</a:t>
            </a:r>
          </a:p>
          <a:p>
            <a:r>
              <a:rPr/>
              <a:t>Prevenzione guasti e fermi: Storico degli interventi e alert manutenzioni per massimizzare la disponibilità del parco</a:t>
            </a:r>
          </a:p>
          <a:p>
            <a:r>
              <a:rPr/>
              <a:t>Ottimizzazione dei costi di flotta: Impiego bilanciato dei mezzi con sensibile riduzione dell'usura e dei consumi anomali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Architettura Tecnologica, Mobilità e Sicurezza</a:t>
            </a:r>
          </a:p>
        </p:txBody>
      </p:sp>
      <p:sp>
        <p:nvSpPr>
          <p:cNvPr id="28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Infrastruttura Cloud Moderna: Database sicuro ospitato su cloud con backup continui e protezione crittografata</a:t>
            </a:r>
          </a:p>
          <a:p>
            <a:r>
              <a:rPr/>
              <a:t>Doppia interfaccia complementare:</a:t>
            </a:r>
          </a:p>
          <a:p>
            <a:r>
              <a:rPr/>
              <a:t>	Portale Web Desktop: ambiente di gestione completo dedicato ai coordinatori logistici e alla direzione</a:t>
            </a:r>
          </a:p>
          <a:p>
            <a:r>
              <a:rPr/>
              <a:t>	App Mobile Android: applicazione dedicata agli operatori per consultare turni, veicoli assegnati e orari</a:t>
            </a:r>
          </a:p>
          <a:p>
            <a:r>
              <a:rPr/>
              <a:t>Massima continuità operativa: Dati sempre sincronizzati in tempo reale e accessibili in sicurezza da qualsiasi postazione</a:t>
            </a:r>
          </a:p>
          <a:p>
            <a:r>
              <a:rPr/>
              <a:t>Zero costi infrastrutturali aggiuntivi: Nessun server locale da manutenere o licenze hardware complesse da acquistare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Impatto Economico e Ritorno sull'Investimento (ROI)</a:t>
            </a:r>
          </a:p>
        </p:txBody>
      </p:sp>
      <p:sp>
        <p:nvSpPr>
          <p:cNvPr id="2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-85% di tempo nella pianificazione: Da intere giornate lavorative a pochi minuti per convalidare il tabellone settimanale</a:t>
            </a:r>
          </a:p>
          <a:p>
            <a:r>
              <a:rPr/>
              <a:t>Azzeramento del rischio sanzionatorio: Totale conformità alle norme sui riposi di legge e validità delle abilitazioni di guida</a:t>
            </a:r>
          </a:p>
          <a:p>
            <a:r>
              <a:rPr/>
              <a:t>-70% del tempo speso nelle emergenze: Risoluzione immediata delle assenze improvvise tramite selezione guidata</a:t>
            </a:r>
          </a:p>
          <a:p>
            <a:r>
              <a:rPr/>
              <a:t>Contenimento dei costi operativi: Netta riduzione degli straordinari non programmati e chilometraggi a vuoto dei mezzi</a:t>
            </a:r>
          </a:p>
          <a:p>
            <a:r>
              <a:rPr/>
              <a:t>Trasparenza e clima di lavoro positivo: Certezza delle regole, equità distributiva e drastica diminuzione del contenzioso interno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Piano di Attivazione e Prossimi Passi</a:t>
            </a:r>
          </a:p>
        </p:txBody>
      </p:sp>
      <p:sp>
        <p:nvSpPr>
          <p:cNvPr id="2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Soluzione già pronta e collaudata: Il sistema è pienamente operativo e configurato con le anagrafiche e linee di servizio</a:t>
            </a:r>
          </a:p>
          <a:p>
            <a:r>
              <a:rPr/>
              <a:t>Fase 1 - Allineamento Responsabili (Settimana 1): Breve sessione formativa di 2 ore per i coordinatori di turno</a:t>
            </a:r>
          </a:p>
          <a:p>
            <a:r>
              <a:rPr/>
              <a:t>Fase 2 - Distribuzione App Autisti (Settimana 2): Installazione dell'applicazione Android e istruzioni rapide al personale</a:t>
            </a:r>
          </a:p>
          <a:p>
            <a:r>
              <a:rPr/>
              <a:t>Fase 3 - Messa a Regime (Settimana 3): Gestione del primo ciclo settimanale completo in ambiente di produzione</a:t>
            </a:r>
          </a:p>
          <a:p>
            <a:r>
              <a:rPr/>
              <a:t>Supporto e Flessibilità: Assistenza continua per eventuali report dedicati o personalizzazioni future</a:t>
            </a:r>
          </a:p>
          <a:p>
            <a:r>
              <a:rPr/>
              <a:t>Decisione: Approvazione per l'avvio della fase di attivazione e passaggio al nuovo standard digitale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arbor">
  <a:themeElements>
    <a:clrScheme name="Harbor">
      <a:dk1>
        <a:srgbClr val="0B1F2A"/>
      </a:dk1>
      <a:lt1>
        <a:srgbClr val="FFFFFF"/>
      </a:lt1>
      <a:dk2>
        <a:srgbClr val="12384D"/>
      </a:dk2>
      <a:lt2>
        <a:srgbClr val="E4EEF2"/>
      </a:lt2>
      <a:accent1>
        <a:srgbClr val="1B7FA6"/>
      </a:accent1>
      <a:accent2>
        <a:srgbClr val="36B3A8"/>
      </a:accent2>
      <a:accent3>
        <a:srgbClr val="F2C14E"/>
      </a:accent3>
      <a:accent4>
        <a:srgbClr val="F78154"/>
      </a:accent4>
      <a:accent5>
        <a:srgbClr val="5D576B"/>
      </a:accent5>
      <a:accent6>
        <a:srgbClr val="8AA29E"/>
      </a:accent6>
      <a:hlink>
        <a:srgbClr val="1B7FA6"/>
      </a:hlink>
      <a:folHlink>
        <a:srgbClr val="5D576B"/>
      </a:folHlink>
    </a:clrScheme>
    <a:fontScheme name="Harbor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10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